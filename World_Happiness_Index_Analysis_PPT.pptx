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Happiness 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Income</c:v>
                  </c:pt>
                  <c:pt idx="1">
                    <c:v>Upper Middle</c:v>
                  </c:pt>
                  <c:pt idx="2">
                    <c:v>Lower Middle</c:v>
                  </c:pt>
                  <c:pt idx="3">
                    <c:v>Low Income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7.1</c:v>
                </c:pt>
                <c:pt idx="1">
                  <c:v>5.9</c:v>
                </c:pt>
                <c:pt idx="2">
                  <c:v>4.6</c:v>
                </c:pt>
                <c:pt idx="3">
                  <c:v>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0644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2743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05156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82880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1812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60604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0644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1228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38328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0644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23960" y="4160520"/>
            <a:ext cx="54864" cy="54864"/>
          </a:xfrm>
          <a:prstGeom prst="ellipse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>
                <a:alpha val="25000"/>
              </a:srgbClr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731520"/>
            <a:ext cx="2011680" cy="201168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</a:t>
            </a:r>
            <a:endParaRPr lang="en-US" sz="4400" dirty="0"/>
          </a:p>
        </p:txBody>
      </p:sp>
      <p:sp>
        <p:nvSpPr>
          <p:cNvPr id="53" name="Text 50"/>
          <p:cNvSpPr/>
          <p:nvPr/>
        </p:nvSpPr>
        <p:spPr>
          <a:xfrm>
            <a:off x="45720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ANALYSIS</a:t>
            </a:r>
            <a:endParaRPr lang="en-US" sz="4400" dirty="0"/>
          </a:p>
        </p:txBody>
      </p:sp>
      <p:sp>
        <p:nvSpPr>
          <p:cNvPr id="54" name="Text 51"/>
          <p:cNvSpPr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vs 2025  |  A Comparative Study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74320" y="44622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 •  Power BI Dashboards  •  World Happiness Report (WHR) 2024 &amp; 2025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3246120"/>
            <a:ext cx="150876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0292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400" dirty="0"/>
          </a:p>
        </p:txBody>
      </p:sp>
      <p:sp>
        <p:nvSpPr>
          <p:cNvPr id="59" name="Text 56"/>
          <p:cNvSpPr/>
          <p:nvPr/>
        </p:nvSpPr>
        <p:spPr>
          <a:xfrm>
            <a:off x="50292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(2025)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286000" y="3246120"/>
            <a:ext cx="150876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28600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5.51</a:t>
            </a:r>
            <a:endParaRPr lang="en-US" sz="2400" dirty="0"/>
          </a:p>
        </p:txBody>
      </p:sp>
      <p:sp>
        <p:nvSpPr>
          <p:cNvPr id="62" name="Text 59"/>
          <p:cNvSpPr/>
          <p:nvPr/>
        </p:nvSpPr>
        <p:spPr>
          <a:xfrm>
            <a:off x="228600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069080" y="3246120"/>
            <a:ext cx="1508760" cy="914400"/>
          </a:xfrm>
          <a:prstGeom prst="rect">
            <a:avLst/>
          </a:prstGeom>
          <a:solidFill>
            <a:srgbClr val="132347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06908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400" dirty="0"/>
          </a:p>
        </p:txBody>
      </p:sp>
      <p:sp>
        <p:nvSpPr>
          <p:cNvPr id="65" name="Text 62"/>
          <p:cNvSpPr/>
          <p:nvPr/>
        </p:nvSpPr>
        <p:spPr>
          <a:xfrm>
            <a:off x="4069080" y="37307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E3F2FD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Nations Thrive?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Happiness Report is a landmark global survey that ranks countries by how happy their citizens perceive themselves to be.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analysts, we transform thousands of rows of global data into clear, actionable dashboards.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central questions: Does more wealth mean more happiness? Does personal freedom truly matter?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68680"/>
            <a:ext cx="6400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03327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21808" y="941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Levels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21808" y="12527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happiness scores globally across 2024 and 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83794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837944"/>
            <a:ext cx="64008" cy="84124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02536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9110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"Why"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21808" y="22219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GDP, health, and freedom shape happiness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280720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2807208"/>
            <a:ext cx="64008" cy="841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971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21808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on India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321808" y="31912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India stand vs the global average?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377647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3776472"/>
            <a:ext cx="64008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941064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21808" y="38496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Dashboards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321808" y="4160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datasets into powerful Power BI visuals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103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economic output per person — the relationship between national wealth and citizen happiness.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7772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777240"/>
            <a:ext cx="27432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05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103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healthy life years expected. Health is the foundational pillar of well-being.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77724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777240"/>
            <a:ext cx="27432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058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of Corruption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2103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public trust in government &amp; business. High trust consistently correlates with high happiness.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74320" y="3703320"/>
            <a:ext cx="8595360" cy="1143000"/>
          </a:xfrm>
          <a:prstGeom prst="rect">
            <a:avLst/>
          </a:prstGeom>
          <a:solidFill>
            <a:srgbClr val="E3F2FD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40965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 —  Data cleaning, handling missing values, column formatting &amp; structuring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—  Advanced data modeling, DAX measures, interactive maps &amp; final dashboarding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 |  2025 WORLD HAPPINESS OVERVIEW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13232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 |  2024 WORLD HAPPINESS OVERVIEW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713232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 |  2024 vs 2025 COMPARATIVE VIEW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49808"/>
            <a:ext cx="8229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828800"/>
          </a:xfrm>
          <a:prstGeom prst="rect">
            <a:avLst/>
          </a:prstGeom>
          <a:solidFill>
            <a:srgbClr val="EBF3FE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969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Drives Happiness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4904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nations score 7.1 vs 3.4 for low-income countries — a direct, strong positive correlation between national wealth and citizen happiness.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804672"/>
            <a:ext cx="420624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875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9692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Wealth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14904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healthiest nations rank consistently in the top 10. Good healthcare and longer life expectancy are non-negotiable pillars of well-being.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2862072"/>
            <a:ext cx="4206240" cy="1828800"/>
          </a:xfrm>
          <a:prstGeom prst="rect">
            <a:avLst/>
          </a:prstGeom>
          <a:solidFill>
            <a:srgbClr val="E0F2F1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862072"/>
            <a:ext cx="73152" cy="18288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49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as a Shield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38912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strong social support networks saw much smaller happiness drops during crises. Community resilience is a powerful buffer.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862072"/>
            <a:ext cx="420624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62072"/>
            <a:ext cx="73152" cy="1828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4495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Corruption Tax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9472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corruption perception strongly drags down a nation's score. Trust in institutions is a defining hallmark of the world's happiest countries.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vs 2025  |  SCORE COMPARISON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246888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/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 Finland (Happiest)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Sustained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 Global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Stable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🇮🇳 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Improving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Afghanistan (Lowest)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Declining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FFF8E1"/>
          </a:solidFill>
          <a:ln w="19050">
            <a:solidFill>
              <a:srgbClr val="FFC10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3456432"/>
            <a:ext cx="73152" cy="13716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661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520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Upward Journey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3886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freedom score rose to 0.77 in 2025 (vs 0.69 in 2024), leading among top nations in this metric. The happiness score improved from 4.05 → 4.12, closing the gap with the global average. India ranks below the global mean but shows a consistent positive trend driven by personal freedom and economic growth.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HAPPINESS CORRELATION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804672"/>
            <a:ext cx="2743200" cy="3977640"/>
          </a:xfrm>
          <a:prstGeom prst="rect">
            <a:avLst/>
          </a:prstGeom>
          <a:solidFill>
            <a:srgbClr val="E3F2FD"/>
          </a:solidFill>
          <a:ln w="6350">
            <a:solidFill>
              <a:srgbClr val="42A5F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96012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263640" y="2103120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465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nations average 7.1 — more than double low-income countries at 3.4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63640" y="2834640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4652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tier jump adds roughly +1.2 to happiness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63640" y="3566160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is the single strongest predictor of happiness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4297680"/>
            <a:ext cx="109728" cy="109728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4652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wealth alone doesn't guarantee joy — freedom &amp; health matter equally at the top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predictive models (Linear Regression, Random Forest) in Python to forecast future happiness scores based on GDP and health trends.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80467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804672"/>
            <a:ext cx="2743200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005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515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23317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APIs for global economic and health data, enabling Power BI dashboards to dynamically refresh with the latest figures.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72200" y="80467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804672"/>
            <a:ext cx="27432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1005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515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India Analysis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23317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deeper, localized study across India's 28 states to uncover regional happiness patterns and socio-economic disparities.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Happiness is multi-dimensional. It is not just about a strong economy, but building a society with freedom, health, and deep social trust.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31136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2928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96512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304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0096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05472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7264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27432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9344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31136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96512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0096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1888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27264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9056" y="89611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9344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31136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52928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96512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0096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61888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05472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27264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49056" y="151790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7552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9344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31136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96512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18304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61888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05472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27264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9056" y="2139696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7552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9344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31136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52928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96512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8304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61888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0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05472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27264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49056" y="2761488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7552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09344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31136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52928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96512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18304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40096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61888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83680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05472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827264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449056" y="3383280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5760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87552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09344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31136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52928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4720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96512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18304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340096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61888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583680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05472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827264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449056" y="4005072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7552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09344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31136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852928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474720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96512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18304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40096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961888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83680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05472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27264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49056" y="4626864"/>
            <a:ext cx="54864" cy="54864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28800" y="1188720"/>
            <a:ext cx="5486400" cy="2743200"/>
          </a:xfrm>
          <a:prstGeom prst="rect">
            <a:avLst/>
          </a:prstGeom>
          <a:solidFill>
            <a:srgbClr val="132347"/>
          </a:solidFill>
          <a:ln w="6350">
            <a:solidFill>
              <a:srgbClr val="42A5F5"/>
            </a:solidFill>
            <a:prstDash val="solid"/>
          </a:ln>
        </p:spPr>
      </p:sp>
      <p:pic>
        <p:nvPicPr>
          <p:cNvPr id="1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25880"/>
            <a:ext cx="731520" cy="731520"/>
          </a:xfrm>
          <a:prstGeom prst="rect">
            <a:avLst/>
          </a:prstGeom>
        </p:spPr>
      </p:pic>
      <p:sp>
        <p:nvSpPr>
          <p:cNvPr id="116" name="Text 113"/>
          <p:cNvSpPr/>
          <p:nvPr/>
        </p:nvSpPr>
        <p:spPr>
          <a:xfrm>
            <a:off x="201168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7" name="Text 114"/>
          <p:cNvSpPr/>
          <p:nvPr/>
        </p:nvSpPr>
        <p:spPr>
          <a:xfrm>
            <a:off x="2011680" y="2907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 •  World Happiness Index 2024 &amp; 2025</a:t>
            </a:r>
            <a:endParaRPr lang="en-US" sz="1200" dirty="0"/>
          </a:p>
        </p:txBody>
      </p:sp>
      <p:sp>
        <p:nvSpPr>
          <p:cNvPr id="118" name="Shape 1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3152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 </a:t>
            </a:r>
            <a:endParaRPr lang="en-US" sz="1600" dirty="0"/>
          </a:p>
        </p:txBody>
      </p:sp>
      <p:sp>
        <p:nvSpPr>
          <p:cNvPr id="120" name="Text 117"/>
          <p:cNvSpPr/>
          <p:nvPr/>
        </p:nvSpPr>
        <p:spPr>
          <a:xfrm>
            <a:off x="73152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Nations Analyzed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274320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5.51  </a:t>
            </a:r>
            <a:endParaRPr lang="en-US" sz="1600" dirty="0"/>
          </a:p>
        </p:txBody>
      </p:sp>
      <p:sp>
        <p:nvSpPr>
          <p:cNvPr id="122" name="Text 119"/>
          <p:cNvSpPr/>
          <p:nvPr/>
        </p:nvSpPr>
        <p:spPr>
          <a:xfrm>
            <a:off x="274320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 2025</a:t>
            </a:r>
            <a:endParaRPr lang="en-US" sz="900" dirty="0"/>
          </a:p>
        </p:txBody>
      </p:sp>
      <p:sp>
        <p:nvSpPr>
          <p:cNvPr id="123" name="Text 120"/>
          <p:cNvSpPr/>
          <p:nvPr/>
        </p:nvSpPr>
        <p:spPr>
          <a:xfrm>
            <a:off x="475488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  </a:t>
            </a:r>
            <a:endParaRPr lang="en-US" sz="1600" dirty="0"/>
          </a:p>
        </p:txBody>
      </p:sp>
      <p:sp>
        <p:nvSpPr>
          <p:cNvPr id="124" name="Text 121"/>
          <p:cNvSpPr/>
          <p:nvPr/>
        </p:nvSpPr>
        <p:spPr>
          <a:xfrm>
            <a:off x="475488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Nation</a:t>
            </a:r>
            <a:endParaRPr lang="en-US" sz="900" dirty="0"/>
          </a:p>
        </p:txBody>
      </p:sp>
      <p:sp>
        <p:nvSpPr>
          <p:cNvPr id="125" name="Text 122"/>
          <p:cNvSpPr/>
          <p:nvPr/>
        </p:nvSpPr>
        <p:spPr>
          <a:xfrm>
            <a:off x="676656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 </a:t>
            </a:r>
            <a:endParaRPr lang="en-US" sz="1600" dirty="0"/>
          </a:p>
        </p:txBody>
      </p:sp>
      <p:sp>
        <p:nvSpPr>
          <p:cNvPr id="126" name="Text 123"/>
          <p:cNvSpPr/>
          <p:nvPr/>
        </p:nvSpPr>
        <p:spPr>
          <a:xfrm>
            <a:off x="6766560" y="4846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Healthiest Nation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Happiness Index Analysis 2024 vs 2025</dc:title>
  <dc:subject>PptxGenJS Presentation</dc:subject>
  <dc:creator>Data Analytics Final Project</dc:creator>
  <cp:lastModifiedBy>Data Analytics Final Project</cp:lastModifiedBy>
  <cp:revision>1</cp:revision>
  <dcterms:created xsi:type="dcterms:W3CDTF">2026-05-25T18:24:27Z</dcterms:created>
  <dcterms:modified xsi:type="dcterms:W3CDTF">2026-05-25T18:24:27Z</dcterms:modified>
</cp:coreProperties>
</file>